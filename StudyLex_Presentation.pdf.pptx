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Default Extension="svg" ContentType="image/svg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Default Extension="fntdata" ContentType="application/x-fontdata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docProps/custom.xml" ContentType="application/vnd.openxmlformats-officedocument.custom-properties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4630400" cy="8229600"/>
  <p:notesSz cx="8229600" cy="14630400"/>
  <p:embeddedFontLst>
    <p:embeddedFont>
      <p:font typeface="Prompt Medium" charset="-34"/>
      <p:bold r:id="rId12"/>
    </p:embeddedFont>
    <p:embeddedFont>
      <p:font typeface="Mukta Light" charset="0"/>
      <p:regular r:id="rId13"/>
    </p:embeddedFont>
    <p:embeddedFont>
      <p:font typeface="Calibri" pitchFamily="34" charset="0"/>
      <p:regular r:id="rId14"/>
      <p:bold r:id="rId15"/>
      <p:italic r:id="rId16"/>
      <p:boldItalic r:id="rId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A0B21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 horzBarState="maximized">
    <p:restoredLeft sz="15611"/>
    <p:restoredTop sz="94610"/>
  </p:normalViewPr>
  <p:slideViewPr>
    <p:cSldViewPr snapToGrid="0" snapToObjects="1">
      <p:cViewPr varScale="1">
        <p:scale>
          <a:sx n="92" d="100"/>
          <a:sy n="92" d="100"/>
        </p:scale>
        <p:origin x="-486" y="-102"/>
      </p:cViewPr>
      <p:guideLst>
        <p:guide orient="horz" pos="2592"/>
        <p:guide pos="460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pPr/>
              <a:t>6/8/2026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9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0C23">
              <a:alpha val="95000"/>
            </a:srgbClr>
          </a:solidFill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0C23">
              <a:alpha val="95000"/>
            </a:srgbClr>
          </a:solidFill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0C23">
              <a:alpha val="95000"/>
            </a:srgbClr>
          </a:solidFill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0C23">
              <a:alpha val="95000"/>
            </a:srgbClr>
          </a:solidFill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0C23">
              <a:alpha val="95000"/>
            </a:srgbClr>
          </a:solidFill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0C23">
              <a:alpha val="95000"/>
            </a:srgbClr>
          </a:solidFill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0C23">
              <a:alpha val="95000"/>
            </a:srgbClr>
          </a:solidFill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0C23">
              <a:alpha val="95000"/>
            </a:srgbClr>
          </a:solidFill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0C23">
              <a:alpha val="95000"/>
            </a:srgbClr>
          </a:solidFill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0C23">
              <a:alpha val="95000"/>
            </a:srgbClr>
          </a:solidFill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3.svg"/><Relationship Id="rId5" Type="http://schemas.openxmlformats.org/officeDocument/2006/relationships/image" Target="../media/image11.svg"/><Relationship Id="rId4" Type="http://schemas.openxmlformats.org/officeDocument/2006/relationships/image" Target="../media/image9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50437" y="1426131"/>
            <a:ext cx="7415927" cy="3429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5400"/>
              </a:lnSpc>
              <a:buNone/>
            </a:pPr>
            <a:r>
              <a:rPr lang="en-US" sz="4300" dirty="0">
                <a:solidFill>
                  <a:srgbClr val="C6BFEE"/>
                </a:solidFill>
                <a:latin typeface="Times New Roman" pitchFamily="18" charset="0"/>
                <a:ea typeface="Prompt Medium" panose="00000800000000000000" pitchFamily="34" charset="-122"/>
                <a:cs typeface="Times New Roman" pitchFamily="18" charset="0"/>
              </a:rPr>
              <a:t>StudyLex — Интеллектуальный Telegram-бот для изучения английского языка</a:t>
            </a:r>
            <a:endParaRPr lang="en-US" sz="43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6350437" y="4953833"/>
            <a:ext cx="5949910" cy="41148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550" dirty="0">
                <a:solidFill>
                  <a:srgbClr val="C6BFEE"/>
                </a:solidFill>
                <a:latin typeface="Times New Roman" pitchFamily="18" charset="0"/>
                <a:ea typeface="Prompt Medium" panose="00000800000000000000" pitchFamily="34" charset="-122"/>
                <a:cs typeface="Times New Roman" pitchFamily="18" charset="0"/>
              </a:rPr>
              <a:t>Проект разработан на языке Python</a:t>
            </a:r>
            <a:endParaRPr lang="en-US" sz="255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6350437" y="5735598"/>
            <a:ext cx="7415927" cy="39504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400" dirty="0">
                <a:solidFill>
                  <a:srgbClr val="DAD8E9"/>
                </a:solidFill>
                <a:latin typeface="Times New Roman" pitchFamily="18" charset="0"/>
                <a:ea typeface="Mukta Light" panose="020B0000000000000000" pitchFamily="34" charset="-122"/>
                <a:cs typeface="Times New Roman" pitchFamily="18" charset="0"/>
              </a:rPr>
              <a:t>Автор</a:t>
            </a:r>
            <a:r>
              <a:rPr lang="ru-RU" altLang="en-US" sz="1400" dirty="0">
                <a:solidFill>
                  <a:srgbClr val="DAD8E9"/>
                </a:solidFill>
                <a:latin typeface="Times New Roman" pitchFamily="18" charset="0"/>
                <a:ea typeface="Mukta Light" panose="020B0000000000000000" pitchFamily="34" charset="-122"/>
                <a:cs typeface="Times New Roman" pitchFamily="18" charset="0"/>
              </a:rPr>
              <a:t>ы</a:t>
            </a:r>
            <a:r>
              <a:rPr lang="en-US" sz="1400" dirty="0">
                <a:solidFill>
                  <a:srgbClr val="DAD8E9"/>
                </a:solidFill>
                <a:latin typeface="Times New Roman" pitchFamily="18" charset="0"/>
                <a:ea typeface="Mukta Light" panose="020B0000000000000000" pitchFamily="34" charset="-122"/>
                <a:cs typeface="Times New Roman" pitchFamily="18" charset="0"/>
              </a:rPr>
              <a:t>: Цечоев И.М. </a:t>
            </a:r>
            <a:r>
              <a:rPr lang="ru-RU" altLang="en-US" sz="1400" dirty="0">
                <a:solidFill>
                  <a:srgbClr val="DAD8E9"/>
                </a:solidFill>
                <a:latin typeface="Times New Roman" pitchFamily="18" charset="0"/>
                <a:ea typeface="Mukta Light" panose="020B0000000000000000" pitchFamily="34" charset="-122"/>
                <a:cs typeface="Times New Roman" pitchFamily="18" charset="0"/>
              </a:rPr>
              <a:t>и </a:t>
            </a:r>
            <a:r>
              <a:rPr lang="en-US" altLang="en-US" sz="1400" dirty="0">
                <a:solidFill>
                  <a:srgbClr val="DAD8E9"/>
                </a:solidFill>
                <a:latin typeface="Times New Roman" pitchFamily="18" charset="0"/>
                <a:ea typeface="Mukta Light" panose="020B0000000000000000" pitchFamily="34" charset="-122"/>
                <a:cs typeface="Times New Roman" pitchFamily="18" charset="0"/>
              </a:rPr>
              <a:t>Орцханов</a:t>
            </a:r>
            <a:r>
              <a:rPr lang="en-US" altLang="ru-RU" sz="1400" dirty="0">
                <a:solidFill>
                  <a:srgbClr val="DAD8E9"/>
                </a:solidFill>
                <a:latin typeface="Times New Roman" pitchFamily="18" charset="0"/>
                <a:ea typeface="Mukta Light" panose="020B0000000000000000" pitchFamily="34" charset="-122"/>
                <a:cs typeface="Times New Roman" pitchFamily="18" charset="0"/>
              </a:rPr>
              <a:t> </a:t>
            </a:r>
            <a:r>
              <a:rPr lang="en-US" altLang="en-US" sz="1400" dirty="0">
                <a:solidFill>
                  <a:srgbClr val="DAD8E9"/>
                </a:solidFill>
                <a:latin typeface="Times New Roman" pitchFamily="18" charset="0"/>
                <a:ea typeface="Mukta Light" panose="020B0000000000000000" pitchFamily="34" charset="-122"/>
                <a:cs typeface="Times New Roman" pitchFamily="18" charset="0"/>
              </a:rPr>
              <a:t>А</a:t>
            </a:r>
            <a:r>
              <a:rPr lang="ru-RU" altLang="en-US" sz="1400" dirty="0">
                <a:solidFill>
                  <a:srgbClr val="DAD8E9"/>
                </a:solidFill>
                <a:latin typeface="Times New Roman" pitchFamily="18" charset="0"/>
                <a:ea typeface="Mukta Light" panose="020B0000000000000000" pitchFamily="34" charset="-122"/>
                <a:cs typeface="Times New Roman" pitchFamily="18" charset="0"/>
              </a:rPr>
              <a:t>.</a:t>
            </a:r>
            <a:r>
              <a:rPr lang="en-US" altLang="ru-RU" sz="1400" dirty="0">
                <a:solidFill>
                  <a:srgbClr val="DAD8E9"/>
                </a:solidFill>
                <a:latin typeface="Times New Roman" pitchFamily="18" charset="0"/>
                <a:ea typeface="Mukta Light" panose="020B0000000000000000" pitchFamily="34" charset="-122"/>
                <a:cs typeface="Times New Roman" pitchFamily="18" charset="0"/>
              </a:rPr>
              <a:t> </a:t>
            </a:r>
            <a:r>
              <a:rPr lang="en-US" altLang="en-US" sz="1400" dirty="0">
                <a:solidFill>
                  <a:srgbClr val="DAD8E9"/>
                </a:solidFill>
                <a:latin typeface="Times New Roman" pitchFamily="18" charset="0"/>
                <a:ea typeface="Mukta Light" panose="020B0000000000000000" pitchFamily="34" charset="-122"/>
                <a:cs typeface="Times New Roman" pitchFamily="18" charset="0"/>
              </a:rPr>
              <a:t>Р</a:t>
            </a:r>
            <a:r>
              <a:rPr lang="ru-RU" altLang="en-US" sz="1400" dirty="0">
                <a:solidFill>
                  <a:srgbClr val="DAD8E9"/>
                </a:solidFill>
                <a:latin typeface="Times New Roman" pitchFamily="18" charset="0"/>
                <a:ea typeface="Mukta Light" panose="020B0000000000000000" pitchFamily="34" charset="-122"/>
                <a:cs typeface="Times New Roman" pitchFamily="18" charset="0"/>
              </a:rPr>
              <a:t>.</a:t>
            </a:r>
            <a:endParaRPr lang="en-US" altLang="en-US" sz="1400" dirty="0">
              <a:solidFill>
                <a:srgbClr val="DAD8E9"/>
              </a:solidFill>
              <a:latin typeface="Times New Roman" pitchFamily="18" charset="0"/>
              <a:ea typeface="Mukta Light" panose="020B0000000000000000" pitchFamily="34" charset="-122"/>
              <a:cs typeface="Times New Roman" pitchFamily="18" charset="0"/>
            </a:endParaRPr>
          </a:p>
          <a:p>
            <a:pPr marL="0" indent="0" algn="l">
              <a:lnSpc>
                <a:spcPts val="3100"/>
              </a:lnSpc>
              <a:buNone/>
            </a:pPr>
            <a:r>
              <a:rPr lang="ru-RU" altLang="en-US" sz="1400" dirty="0">
                <a:solidFill>
                  <a:srgbClr val="DAD8E9"/>
                </a:solidFill>
                <a:latin typeface="Times New Roman" pitchFamily="18" charset="0"/>
                <a:ea typeface="Mukta Light" panose="020B0000000000000000" pitchFamily="34" charset="-122"/>
                <a:cs typeface="Times New Roman" pitchFamily="18" charset="0"/>
              </a:rPr>
              <a:t>Студенты 2 курса ПИТ </a:t>
            </a:r>
          </a:p>
          <a:p>
            <a:pPr marL="0" indent="0" algn="l">
              <a:lnSpc>
                <a:spcPts val="3100"/>
              </a:lnSpc>
              <a:buNone/>
            </a:pPr>
            <a:r>
              <a:rPr lang="ru-RU" altLang="en-US" sz="1400" dirty="0">
                <a:solidFill>
                  <a:srgbClr val="DAD8E9"/>
                </a:solidFill>
                <a:latin typeface="Times New Roman" pitchFamily="18" charset="0"/>
                <a:ea typeface="Mukta Light" panose="020B0000000000000000" pitchFamily="34" charset="-122"/>
                <a:cs typeface="Times New Roman" pitchFamily="18" charset="0"/>
              </a:rPr>
              <a:t>Преподаватель</a:t>
            </a:r>
            <a:r>
              <a:rPr lang="en-US" altLang="en-US" sz="1400" dirty="0">
                <a:solidFill>
                  <a:srgbClr val="DAD8E9"/>
                </a:solidFill>
                <a:latin typeface="Times New Roman" pitchFamily="18" charset="0"/>
                <a:ea typeface="Mukta Light" panose="020B0000000000000000" pitchFamily="34" charset="-122"/>
                <a:cs typeface="Times New Roman" pitchFamily="18" charset="0"/>
              </a:rPr>
              <a:t>:</a:t>
            </a:r>
            <a:r>
              <a:rPr lang="ru-RU" altLang="en-US" sz="1400" dirty="0">
                <a:solidFill>
                  <a:srgbClr val="DAD8E9"/>
                </a:solidFill>
                <a:latin typeface="Times New Roman" pitchFamily="18" charset="0"/>
                <a:ea typeface="Mukta Light" panose="020B0000000000000000" pitchFamily="34" charset="-122"/>
                <a:cs typeface="Times New Roman" pitchFamily="18" charset="0"/>
              </a:rPr>
              <a:t> Цуроев И.М. </a:t>
            </a:r>
          </a:p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DAD8E9"/>
                </a:solidFill>
                <a:latin typeface="Mukta Light" panose="020B0000000000000000" pitchFamily="34" charset="0"/>
                <a:ea typeface="Mukta Light" panose="020B0000000000000000" pitchFamily="34" charset="-122"/>
                <a:cs typeface="Mukta Light" panose="020B0000000000000000" pitchFamily="34" charset="-120"/>
              </a:rPr>
              <a:t>   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6437432" y="6501011"/>
            <a:ext cx="7415927" cy="39504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endParaRPr lang="en-US" sz="1900" dirty="0"/>
          </a:p>
        </p:txBody>
      </p:sp>
      <p:sp>
        <p:nvSpPr>
          <p:cNvPr id="8" name="Прямоугольник 7"/>
          <p:cNvSpPr/>
          <p:nvPr/>
        </p:nvSpPr>
        <p:spPr>
          <a:xfrm>
            <a:off x="10389235" y="7082790"/>
            <a:ext cx="2474595" cy="384175"/>
          </a:xfrm>
          <a:prstGeom prst="rect">
            <a:avLst/>
          </a:prstGeom>
          <a:solidFill>
            <a:srgbClr val="0A0B21"/>
          </a:solidFill>
          <a:ln>
            <a:solidFill>
              <a:srgbClr val="0A0B2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altLang="en-US"/>
          </a:p>
        </p:txBody>
      </p:sp>
      <p:sp>
        <p:nvSpPr>
          <p:cNvPr id="9" name="Текстовое поле 8"/>
          <p:cNvSpPr txBox="1"/>
          <p:nvPr/>
        </p:nvSpPr>
        <p:spPr>
          <a:xfrm>
            <a:off x="7902575" y="7352030"/>
            <a:ext cx="4869180" cy="3613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endParaRPr lang="ru-RU" altLang="en-US"/>
          </a:p>
        </p:txBody>
      </p:sp>
      <p:sp>
        <p:nvSpPr>
          <p:cNvPr id="16" name="Текстовое поле 15"/>
          <p:cNvSpPr txBox="1"/>
          <p:nvPr/>
        </p:nvSpPr>
        <p:spPr>
          <a:xfrm>
            <a:off x="12881610" y="7950835"/>
            <a:ext cx="5591175" cy="37655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endParaRPr lang="ru-RU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72676" y="1858923"/>
            <a:ext cx="7771328" cy="76795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C6BFEE"/>
                </a:solidFill>
                <a:latin typeface="Times New Roman" pitchFamily="18" charset="0"/>
                <a:ea typeface="Prompt Medium" panose="00000800000000000000" pitchFamily="34" charset="-122"/>
                <a:cs typeface="Times New Roman" pitchFamily="18" charset="0"/>
              </a:rPr>
              <a:t>Актуальность: Почему английский язык — это не роскошь, а необходимость?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hape 1"/>
          <p:cNvSpPr/>
          <p:nvPr/>
        </p:nvSpPr>
        <p:spPr>
          <a:xfrm>
            <a:off x="6172676" y="2834164"/>
            <a:ext cx="3816548" cy="1465898"/>
          </a:xfrm>
          <a:prstGeom prst="roundRect">
            <a:avLst>
              <a:gd name="adj" fmla="val 4990"/>
            </a:avLst>
          </a:prstGeom>
          <a:solidFill>
            <a:srgbClr val="0B0C23">
              <a:alpha val="95000"/>
            </a:srgbClr>
          </a:solidFill>
          <a:ln w="15240">
            <a:solidFill>
              <a:srgbClr val="6D4562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157436" y="2834164"/>
            <a:ext cx="60960" cy="1465898"/>
          </a:xfrm>
          <a:prstGeom prst="roundRect">
            <a:avLst>
              <a:gd name="adj" fmla="val 95235"/>
            </a:avLst>
          </a:prstGeom>
          <a:solidFill>
            <a:srgbClr val="A95B95"/>
          </a:solidFill>
        </p:spPr>
      </p:sp>
      <p:sp>
        <p:nvSpPr>
          <p:cNvPr id="6" name="Text 3"/>
          <p:cNvSpPr/>
          <p:nvPr/>
        </p:nvSpPr>
        <p:spPr>
          <a:xfrm>
            <a:off x="6371749" y="2987516"/>
            <a:ext cx="1650444" cy="19192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600" dirty="0">
                <a:solidFill>
                  <a:srgbClr val="DAD8E9"/>
                </a:solidFill>
                <a:latin typeface="Times New Roman" pitchFamily="18" charset="0"/>
                <a:ea typeface="Prompt Medium" panose="00000800000000000000" pitchFamily="34" charset="-122"/>
                <a:cs typeface="Times New Roman" pitchFamily="18" charset="0"/>
              </a:rPr>
              <a:t>Глобальный стандарт</a:t>
            </a:r>
            <a:endParaRPr lang="en-US" sz="1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6371749" y="3262313"/>
            <a:ext cx="3464123" cy="66329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00" dirty="0">
                <a:solidFill>
                  <a:srgbClr val="DAD8E9"/>
                </a:solidFill>
                <a:latin typeface="Times New Roman" pitchFamily="18" charset="0"/>
                <a:ea typeface="Mukta Light" panose="020B0000000000000000" pitchFamily="34" charset="-122"/>
                <a:cs typeface="Times New Roman" pitchFamily="18" charset="0"/>
              </a:rPr>
              <a:t>Английский — язык международного общения, IT-сферы и бизнеса, открывающий двери к глобальным возможностям.</a:t>
            </a:r>
            <a:endParaRPr lang="en-US" sz="1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10127337" y="2834164"/>
            <a:ext cx="3816668" cy="1465898"/>
          </a:xfrm>
          <a:prstGeom prst="roundRect">
            <a:avLst>
              <a:gd name="adj" fmla="val 4990"/>
            </a:avLst>
          </a:prstGeom>
          <a:solidFill>
            <a:srgbClr val="0B0C23">
              <a:alpha val="95000"/>
            </a:srgbClr>
          </a:solidFill>
          <a:ln w="15240">
            <a:solidFill>
              <a:srgbClr val="6D456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0112097" y="2834164"/>
            <a:ext cx="60960" cy="1465898"/>
          </a:xfrm>
          <a:prstGeom prst="roundRect">
            <a:avLst>
              <a:gd name="adj" fmla="val 95235"/>
            </a:avLst>
          </a:prstGeom>
          <a:solidFill>
            <a:srgbClr val="A95B95"/>
          </a:solidFill>
        </p:spPr>
      </p:sp>
      <p:sp>
        <p:nvSpPr>
          <p:cNvPr id="10" name="Text 7"/>
          <p:cNvSpPr/>
          <p:nvPr/>
        </p:nvSpPr>
        <p:spPr>
          <a:xfrm>
            <a:off x="10326410" y="2987516"/>
            <a:ext cx="1535787" cy="19192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600" dirty="0">
                <a:solidFill>
                  <a:srgbClr val="DAD8E9"/>
                </a:solidFill>
                <a:latin typeface="Times New Roman" pitchFamily="18" charset="0"/>
                <a:ea typeface="Prompt Medium" panose="00000800000000000000" pitchFamily="34" charset="-122"/>
                <a:cs typeface="Times New Roman" pitchFamily="18" charset="0"/>
              </a:rPr>
              <a:t>Карьерный рост</a:t>
            </a:r>
            <a:endParaRPr lang="en-US" sz="1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10326410" y="3262313"/>
            <a:ext cx="3464243" cy="88439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00" dirty="0">
                <a:solidFill>
                  <a:srgbClr val="DAD8E9"/>
                </a:solidFill>
                <a:latin typeface="Times New Roman" pitchFamily="18" charset="0"/>
                <a:ea typeface="Mukta Light" panose="020B0000000000000000" pitchFamily="34" charset="-122"/>
                <a:cs typeface="Times New Roman" pitchFamily="18" charset="0"/>
              </a:rPr>
              <a:t>Специалисты со знанием английского зарабатывают на 30-40% больше, значительно повышая свою конкурентоспособность на рынке труда.</a:t>
            </a:r>
            <a:endParaRPr lang="en-US" sz="1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6172676" y="4438174"/>
            <a:ext cx="3816548" cy="1244798"/>
          </a:xfrm>
          <a:prstGeom prst="roundRect">
            <a:avLst>
              <a:gd name="adj" fmla="val 5877"/>
            </a:avLst>
          </a:prstGeom>
          <a:solidFill>
            <a:srgbClr val="0B0C23">
              <a:alpha val="95000"/>
            </a:srgbClr>
          </a:solidFill>
          <a:ln w="15240">
            <a:solidFill>
              <a:srgbClr val="6D456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157436" y="4438174"/>
            <a:ext cx="60960" cy="1244798"/>
          </a:xfrm>
          <a:prstGeom prst="roundRect">
            <a:avLst>
              <a:gd name="adj" fmla="val 95235"/>
            </a:avLst>
          </a:prstGeom>
          <a:solidFill>
            <a:srgbClr val="A95B95"/>
          </a:solidFill>
        </p:spPr>
      </p:sp>
      <p:sp>
        <p:nvSpPr>
          <p:cNvPr id="14" name="Text 11"/>
          <p:cNvSpPr/>
          <p:nvPr/>
        </p:nvSpPr>
        <p:spPr>
          <a:xfrm>
            <a:off x="6371749" y="4591526"/>
            <a:ext cx="1684734" cy="19192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600" dirty="0">
                <a:solidFill>
                  <a:srgbClr val="DAD8E9"/>
                </a:solidFill>
                <a:latin typeface="Times New Roman" pitchFamily="18" charset="0"/>
                <a:ea typeface="Prompt Medium" panose="00000800000000000000" pitchFamily="34" charset="-122"/>
                <a:cs typeface="Times New Roman" pitchFamily="18" charset="0"/>
              </a:rPr>
              <a:t>Доступ к информации</a:t>
            </a:r>
            <a:endParaRPr lang="en-US" sz="1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6371749" y="4866323"/>
            <a:ext cx="3464123" cy="66329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00" dirty="0">
                <a:solidFill>
                  <a:srgbClr val="DAD8E9"/>
                </a:solidFill>
                <a:latin typeface="Times New Roman" pitchFamily="18" charset="0"/>
                <a:ea typeface="Mukta Light" panose="020B0000000000000000" pitchFamily="34" charset="-122"/>
                <a:cs typeface="Times New Roman" pitchFamily="18" charset="0"/>
              </a:rPr>
              <a:t>До 80% технической документации и обучающих материалов написаны на английском, делая его ключом к актуальным знаниям.</a:t>
            </a:r>
            <a:endParaRPr lang="en-US" sz="1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6379964" y="5993963"/>
            <a:ext cx="7564041" cy="22109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00" dirty="0">
                <a:solidFill>
                  <a:srgbClr val="DAD8E9"/>
                </a:solidFill>
                <a:latin typeface="Times New Roman" pitchFamily="18" charset="0"/>
                <a:ea typeface="Mukta Light" panose="020B0000000000000000" pitchFamily="34" charset="-122"/>
                <a:cs typeface="Times New Roman" pitchFamily="18" charset="0"/>
              </a:rPr>
              <a:t>Изучение языка — это не просто хобби, а стратегическая необходимость для каждого, кто стремится к развитию.</a:t>
            </a:r>
            <a:endParaRPr lang="en-US" sz="1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7" name="Shape 14"/>
          <p:cNvSpPr/>
          <p:nvPr/>
        </p:nvSpPr>
        <p:spPr>
          <a:xfrm>
            <a:off x="6172676" y="5838468"/>
            <a:ext cx="15240" cy="532090"/>
          </a:xfrm>
          <a:prstGeom prst="rect">
            <a:avLst/>
          </a:prstGeom>
          <a:solidFill>
            <a:srgbClr val="A95B95"/>
          </a:solidFill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4168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879759" y="3103007"/>
            <a:ext cx="10870883" cy="107418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4200"/>
              </a:lnSpc>
              <a:buNone/>
            </a:pPr>
            <a:r>
              <a:rPr lang="en-US" sz="3350" dirty="0">
                <a:solidFill>
                  <a:srgbClr val="C6BFEE"/>
                </a:solidFill>
                <a:latin typeface="Times New Roman" pitchFamily="18" charset="0"/>
                <a:ea typeface="Prompt Medium" panose="00000800000000000000" pitchFamily="34" charset="-122"/>
                <a:cs typeface="Times New Roman" pitchFamily="18" charset="0"/>
              </a:rPr>
              <a:t>Проблема: Почему традиционное изучение слов неэффективно?</a:t>
            </a:r>
            <a:endParaRPr lang="en-US" sz="335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79759" y="4467106"/>
            <a:ext cx="3494723" cy="2549604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2072997" y="4660344"/>
            <a:ext cx="2148364" cy="26848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50" dirty="0">
                <a:solidFill>
                  <a:srgbClr val="DAD8E9"/>
                </a:solidFill>
                <a:latin typeface="Times New Roman" pitchFamily="18" charset="0"/>
                <a:ea typeface="Prompt Medium" panose="00000800000000000000" pitchFamily="34" charset="-122"/>
                <a:cs typeface="Times New Roman" pitchFamily="18" charset="0"/>
              </a:rPr>
              <a:t>Отсутствие системы</a:t>
            </a:r>
            <a:endParaRPr lang="en-US" sz="165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Text 2"/>
          <p:cNvSpPr/>
          <p:nvPr/>
        </p:nvSpPr>
        <p:spPr>
          <a:xfrm>
            <a:off x="2072997" y="5044797"/>
            <a:ext cx="3108246" cy="123729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DAD8E9"/>
                </a:solidFill>
                <a:latin typeface="Times New Roman" pitchFamily="18" charset="0"/>
                <a:ea typeface="Mukta Light" panose="020B0000000000000000" pitchFamily="34" charset="-122"/>
                <a:cs typeface="Times New Roman" pitchFamily="18" charset="0"/>
              </a:rPr>
              <a:t>Новые слова быстро забываются без систематического повторения, превращая процесс обучения в "сизифов труд".</a:t>
            </a:r>
            <a:endParaRPr lang="en-US" sz="15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67720" y="4467106"/>
            <a:ext cx="3494842" cy="2549604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5760958" y="4660344"/>
            <a:ext cx="2148364" cy="26848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50" dirty="0">
                <a:solidFill>
                  <a:srgbClr val="DAD8E9"/>
                </a:solidFill>
                <a:latin typeface="Times New Roman" pitchFamily="18" charset="0"/>
                <a:ea typeface="Prompt Medium" panose="00000800000000000000" pitchFamily="34" charset="-122"/>
                <a:cs typeface="Times New Roman" pitchFamily="18" charset="0"/>
              </a:rPr>
              <a:t>Неудобство</a:t>
            </a:r>
            <a:endParaRPr lang="en-US" sz="165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Text 4"/>
          <p:cNvSpPr/>
          <p:nvPr/>
        </p:nvSpPr>
        <p:spPr>
          <a:xfrm>
            <a:off x="5760958" y="5044797"/>
            <a:ext cx="3108365" cy="123729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DAD8E9"/>
                </a:solidFill>
                <a:latin typeface="Times New Roman" pitchFamily="18" charset="0"/>
                <a:ea typeface="Mukta Light" panose="020B0000000000000000" pitchFamily="34" charset="-122"/>
                <a:cs typeface="Times New Roman" pitchFamily="18" charset="0"/>
              </a:rPr>
              <a:t>Носить с собой тетради или карточки в эпоху цифровых технологий крайне неудобно и неэффективно.</a:t>
            </a:r>
            <a:endParaRPr lang="en-US" sz="15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55800" y="4467106"/>
            <a:ext cx="3494723" cy="2549604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9449038" y="4660344"/>
            <a:ext cx="2148364" cy="26848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50" dirty="0">
                <a:solidFill>
                  <a:srgbClr val="DAD8E9"/>
                </a:solidFill>
                <a:latin typeface="Times New Roman" pitchFamily="18" charset="0"/>
                <a:ea typeface="Prompt Medium" panose="00000800000000000000" pitchFamily="34" charset="-122"/>
                <a:cs typeface="Times New Roman" pitchFamily="18" charset="0"/>
              </a:rPr>
              <a:t>Сложность софта</a:t>
            </a:r>
            <a:endParaRPr lang="en-US" sz="165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" name="Text 6"/>
          <p:cNvSpPr/>
          <p:nvPr/>
        </p:nvSpPr>
        <p:spPr>
          <a:xfrm>
            <a:off x="9449038" y="5044797"/>
            <a:ext cx="3108246" cy="154662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DAD8E9"/>
                </a:solidFill>
                <a:latin typeface="Times New Roman" pitchFamily="18" charset="0"/>
                <a:ea typeface="Mukta Light" panose="020B0000000000000000" pitchFamily="34" charset="-122"/>
                <a:cs typeface="Times New Roman" pitchFamily="18" charset="0"/>
              </a:rPr>
              <a:t>Существующие приложения часто платные, требуют регистрации и перегружены лишними функциями, отвлекая от главного.</a:t>
            </a:r>
            <a:endParaRPr lang="en-US" sz="15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" name="Text 7"/>
          <p:cNvSpPr/>
          <p:nvPr/>
        </p:nvSpPr>
        <p:spPr>
          <a:xfrm>
            <a:off x="1879759" y="7234118"/>
            <a:ext cx="10870883" cy="30932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DAD8E9"/>
                </a:solidFill>
                <a:latin typeface="Times New Roman" pitchFamily="18" charset="0"/>
                <a:ea typeface="Mukta Light" panose="020B0000000000000000" pitchFamily="34" charset="-122"/>
                <a:cs typeface="Times New Roman" pitchFamily="18" charset="0"/>
              </a:rPr>
              <a:t>Нужен удобный и всегда доступный инструмент, который легко интегрируется в повседневную жизнь.</a:t>
            </a:r>
            <a:endParaRPr lang="en-US" sz="15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48213" y="566023"/>
            <a:ext cx="8933855" cy="88272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dirty="0">
                <a:solidFill>
                  <a:srgbClr val="C6BFEE"/>
                </a:solidFill>
                <a:latin typeface="Times New Roman" pitchFamily="18" charset="0"/>
                <a:ea typeface="Prompt Medium" panose="00000800000000000000" pitchFamily="34" charset="-122"/>
                <a:cs typeface="Times New Roman" pitchFamily="18" charset="0"/>
              </a:rPr>
              <a:t>Решение: StudyLex Bot — Ваш персональный помощник в Telegram</a:t>
            </a:r>
            <a:endParaRPr lang="en-US" sz="275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2848213" y="1865709"/>
            <a:ext cx="5205174" cy="476607"/>
          </a:xfrm>
          <a:prstGeom prst="roundRect">
            <a:avLst>
              <a:gd name="adj" fmla="val 480103"/>
            </a:avLst>
          </a:prstGeom>
          <a:solidFill>
            <a:srgbClr val="542C49"/>
          </a:solidFill>
          <a:ln w="7620">
            <a:solidFill>
              <a:srgbClr val="6D456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31619" y="1955006"/>
            <a:ext cx="238244" cy="29789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850" dirty="0">
                <a:solidFill>
                  <a:srgbClr val="DAD8E9"/>
                </a:solidFill>
                <a:latin typeface="Prompt Medium" panose="00000800000000000000" pitchFamily="34" charset="0"/>
                <a:ea typeface="Prompt Medium" panose="00000800000000000000" pitchFamily="34" charset="-122"/>
                <a:cs typeface="Prompt Medium" panose="00000800000000000000" pitchFamily="34" charset="-120"/>
              </a:rPr>
              <a:t>1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3007043" y="2501146"/>
            <a:ext cx="1912025" cy="22062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400" dirty="0">
                <a:solidFill>
                  <a:srgbClr val="DAD8E9"/>
                </a:solidFill>
                <a:latin typeface="Times New Roman" pitchFamily="18" charset="0"/>
                <a:ea typeface="Prompt Medium" panose="00000800000000000000" pitchFamily="34" charset="-122"/>
                <a:cs typeface="Times New Roman" pitchFamily="18" charset="0"/>
              </a:rPr>
              <a:t>Мгновенный перевод</a:t>
            </a:r>
            <a:endParaRPr lang="en-US" sz="1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3007043" y="2880598"/>
            <a:ext cx="4887516" cy="508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DAD8E9"/>
                </a:solidFill>
                <a:latin typeface="Times New Roman" pitchFamily="18" charset="0"/>
                <a:ea typeface="Mukta Light" panose="020B0000000000000000" pitchFamily="34" charset="-122"/>
                <a:cs typeface="Times New Roman" pitchFamily="18" charset="0"/>
              </a:rPr>
              <a:t>Работает в обе стороны (RU </a:t>
            </a:r>
            <a:r>
              <a:rPr lang="en-US" sz="1400" dirty="0">
                <a:solidFill>
                  <a:srgbClr val="000000"/>
                </a:solidFill>
                <a:latin typeface="Times New Roman" pitchFamily="18" charset="0"/>
                <a:ea typeface="Mukta Light" panose="020B0000000000000000" pitchFamily="34" charset="-122"/>
                <a:cs typeface="Times New Roman" pitchFamily="18" charset="0"/>
              </a:rPr>
              <a:t>↔</a:t>
            </a:r>
            <a:r>
              <a:rPr lang="en-US" sz="1400" dirty="0">
                <a:solidFill>
                  <a:srgbClr val="DAD8E9"/>
                </a:solidFill>
                <a:latin typeface="Times New Roman" pitchFamily="18" charset="0"/>
                <a:ea typeface="Mukta Light" panose="020B0000000000000000" pitchFamily="34" charset="-122"/>
                <a:cs typeface="Times New Roman" pitchFamily="18" charset="0"/>
              </a:rPr>
              <a:t> EN), предоставляя быстрый и точный перевод прямо в чате.</a:t>
            </a:r>
            <a:endParaRPr lang="en-US" sz="1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2848213" y="3706892"/>
            <a:ext cx="5205174" cy="476607"/>
          </a:xfrm>
          <a:prstGeom prst="roundRect">
            <a:avLst>
              <a:gd name="adj" fmla="val 480103"/>
            </a:avLst>
          </a:prstGeom>
          <a:solidFill>
            <a:srgbClr val="542C49"/>
          </a:solidFill>
          <a:ln w="7620">
            <a:solidFill>
              <a:srgbClr val="6D456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31619" y="3796189"/>
            <a:ext cx="238244" cy="29789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850" dirty="0">
                <a:solidFill>
                  <a:srgbClr val="DAD8E9"/>
                </a:solidFill>
                <a:latin typeface="Prompt Medium" panose="00000800000000000000" pitchFamily="34" charset="0"/>
                <a:ea typeface="Prompt Medium" panose="00000800000000000000" pitchFamily="34" charset="-122"/>
                <a:cs typeface="Prompt Medium" panose="00000800000000000000" pitchFamily="34" charset="-120"/>
              </a:rPr>
              <a:t>2</a:t>
            </a:r>
            <a:endParaRPr lang="en-US" sz="1850" dirty="0"/>
          </a:p>
        </p:txBody>
      </p:sp>
      <p:sp>
        <p:nvSpPr>
          <p:cNvPr id="9" name="Text 7"/>
          <p:cNvSpPr/>
          <p:nvPr/>
        </p:nvSpPr>
        <p:spPr>
          <a:xfrm>
            <a:off x="3007043" y="4342328"/>
            <a:ext cx="1975366" cy="22062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400" dirty="0">
                <a:solidFill>
                  <a:srgbClr val="DAD8E9"/>
                </a:solidFill>
                <a:latin typeface="Times New Roman" pitchFamily="18" charset="0"/>
                <a:ea typeface="Prompt Medium" panose="00000800000000000000" pitchFamily="34" charset="-122"/>
                <a:cs typeface="Times New Roman" pitchFamily="18" charset="0"/>
              </a:rPr>
              <a:t>Контекстное обучение</a:t>
            </a:r>
            <a:endParaRPr lang="en-US" sz="1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3007043" y="4721781"/>
            <a:ext cx="4887516" cy="76295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DAD8E9"/>
                </a:solidFill>
                <a:latin typeface="Times New Roman" pitchFamily="18" charset="0"/>
                <a:ea typeface="Mukta Light" panose="020B0000000000000000" pitchFamily="34" charset="-122"/>
                <a:cs typeface="Times New Roman" pitchFamily="18" charset="0"/>
              </a:rPr>
              <a:t>Пользователь может сохранить переведенное слово в свой личный словарь одной кнопкой, формируя индивидуальную базу знаний.</a:t>
            </a:r>
            <a:endParaRPr lang="en-US" sz="1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2848213" y="5802392"/>
            <a:ext cx="5205174" cy="476607"/>
          </a:xfrm>
          <a:prstGeom prst="roundRect">
            <a:avLst>
              <a:gd name="adj" fmla="val 480103"/>
            </a:avLst>
          </a:prstGeom>
          <a:solidFill>
            <a:srgbClr val="542C49"/>
          </a:solidFill>
          <a:ln w="7620">
            <a:solidFill>
              <a:srgbClr val="6D456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31619" y="5891689"/>
            <a:ext cx="238244" cy="29789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850" dirty="0">
                <a:solidFill>
                  <a:srgbClr val="DAD8E9"/>
                </a:solidFill>
                <a:latin typeface="Prompt Medium" panose="00000800000000000000" pitchFamily="34" charset="0"/>
                <a:ea typeface="Prompt Medium" panose="00000800000000000000" pitchFamily="34" charset="-122"/>
                <a:cs typeface="Prompt Medium" panose="00000800000000000000" pitchFamily="34" charset="-120"/>
              </a:rPr>
              <a:t>3</a:t>
            </a:r>
            <a:endParaRPr lang="en-US" sz="1850" dirty="0"/>
          </a:p>
        </p:txBody>
      </p:sp>
      <p:sp>
        <p:nvSpPr>
          <p:cNvPr id="13" name="Text 11"/>
          <p:cNvSpPr/>
          <p:nvPr/>
        </p:nvSpPr>
        <p:spPr>
          <a:xfrm>
            <a:off x="3007043" y="6437828"/>
            <a:ext cx="2410539" cy="22062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400" dirty="0">
                <a:solidFill>
                  <a:srgbClr val="DAD8E9"/>
                </a:solidFill>
                <a:latin typeface="Times New Roman" pitchFamily="18" charset="0"/>
                <a:ea typeface="Prompt Medium" panose="00000800000000000000" pitchFamily="34" charset="-122"/>
                <a:cs typeface="Times New Roman" pitchFamily="18" charset="0"/>
              </a:rPr>
              <a:t>Максимальная доступность</a:t>
            </a:r>
            <a:endParaRPr lang="en-US" sz="1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3007043" y="6817281"/>
            <a:ext cx="4887516" cy="508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DAD8E9"/>
                </a:solidFill>
                <a:latin typeface="Times New Roman" pitchFamily="18" charset="0"/>
                <a:ea typeface="Mukta Light" panose="020B0000000000000000" pitchFamily="34" charset="-122"/>
                <a:cs typeface="Times New Roman" pitchFamily="18" charset="0"/>
              </a:rPr>
              <a:t>StudyLex функционирует на любой платформе, где есть Telegram (ПК, телефон, планшет), всегда оставаясь под рукой.</a:t>
            </a:r>
            <a:endParaRPr lang="en-US" sz="14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8675" y="1865709"/>
            <a:ext cx="3340894" cy="334089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4037" y="709374"/>
            <a:ext cx="12902327" cy="1371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5400"/>
              </a:lnSpc>
              <a:buNone/>
            </a:pPr>
            <a:r>
              <a:rPr lang="en-US" sz="4300" dirty="0">
                <a:solidFill>
                  <a:srgbClr val="C6BFEE"/>
                </a:solidFill>
                <a:latin typeface="Times New Roman" pitchFamily="18" charset="0"/>
                <a:ea typeface="Prompt Medium" panose="00000800000000000000" pitchFamily="34" charset="-122"/>
                <a:cs typeface="Times New Roman" pitchFamily="18" charset="0"/>
              </a:rPr>
              <a:t>Техническая реализация: Python Under the Hood</a:t>
            </a:r>
            <a:endParaRPr lang="en-US" sz="43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864037" y="2574727"/>
            <a:ext cx="12902327" cy="39504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DAD8E9"/>
                </a:solidFill>
                <a:latin typeface="Times New Roman" pitchFamily="18" charset="0"/>
                <a:ea typeface="Mukta Light" panose="020B0000000000000000" pitchFamily="34" charset="-122"/>
                <a:cs typeface="Times New Roman" pitchFamily="18" charset="0"/>
              </a:rPr>
              <a:t>Как работает StudyLex изнутри?</a:t>
            </a:r>
            <a:endParaRPr lang="en-US" sz="19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864037" y="3247430"/>
            <a:ext cx="555427" cy="555427"/>
          </a:xfrm>
          <a:prstGeom prst="roundRect">
            <a:avLst>
              <a:gd name="adj" fmla="val 18669"/>
            </a:avLst>
          </a:prstGeom>
          <a:solidFill>
            <a:srgbClr val="542C49"/>
          </a:solidFill>
          <a:ln w="15240">
            <a:solidFill>
              <a:srgbClr val="6D4562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977146" y="3360539"/>
            <a:ext cx="329089" cy="32908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66280" y="3332202"/>
            <a:ext cx="2743200" cy="3429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DAD8E9"/>
                </a:solidFill>
                <a:latin typeface="Prompt Medium" panose="00000800000000000000" pitchFamily="34" charset="0"/>
                <a:ea typeface="Prompt Medium" panose="00000800000000000000" pitchFamily="34" charset="-122"/>
                <a:cs typeface="Prompt Medium" panose="00000800000000000000" pitchFamily="34" charset="-120"/>
              </a:rPr>
              <a:t>Язык: Python 3.10+</a:t>
            </a:r>
            <a:endParaRPr lang="en-US" sz="2150" dirty="0"/>
          </a:p>
        </p:txBody>
      </p:sp>
      <p:sp>
        <p:nvSpPr>
          <p:cNvPr id="7" name="Text 4"/>
          <p:cNvSpPr/>
          <p:nvPr/>
        </p:nvSpPr>
        <p:spPr>
          <a:xfrm>
            <a:off x="1666280" y="3823216"/>
            <a:ext cx="3292793" cy="197524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DAD8E9"/>
                </a:solidFill>
                <a:latin typeface="Times New Roman" pitchFamily="18" charset="0"/>
                <a:ea typeface="Mukta Light" panose="020B0000000000000000" pitchFamily="34" charset="-122"/>
                <a:cs typeface="Times New Roman" pitchFamily="18" charset="0"/>
              </a:rPr>
              <a:t>Выбран за скорость разработки, обширную экосистему библиотек и высокую производительность.</a:t>
            </a:r>
            <a:endParaRPr lang="en-US" sz="19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5267682" y="3247430"/>
            <a:ext cx="555427" cy="555427"/>
          </a:xfrm>
          <a:prstGeom prst="roundRect">
            <a:avLst>
              <a:gd name="adj" fmla="val 18669"/>
            </a:avLst>
          </a:prstGeom>
          <a:solidFill>
            <a:srgbClr val="542C49"/>
          </a:solidFill>
          <a:ln w="15240">
            <a:solidFill>
              <a:srgbClr val="6D4562"/>
            </a:solidFill>
            <a:prstDash val="solid"/>
          </a:ln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5380792" y="3360539"/>
            <a:ext cx="329089" cy="329089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069925" y="3332202"/>
            <a:ext cx="2743200" cy="3429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DAD8E9"/>
                </a:solidFill>
                <a:latin typeface="Prompt Medium" panose="00000800000000000000" pitchFamily="34" charset="0"/>
                <a:ea typeface="Prompt Medium" panose="00000800000000000000" pitchFamily="34" charset="-122"/>
                <a:cs typeface="Prompt Medium" panose="00000800000000000000" pitchFamily="34" charset="-120"/>
              </a:rPr>
              <a:t>Aiogram 3</a:t>
            </a:r>
            <a:endParaRPr lang="en-US" sz="2150" dirty="0"/>
          </a:p>
        </p:txBody>
      </p:sp>
      <p:sp>
        <p:nvSpPr>
          <p:cNvPr id="11" name="Text 7"/>
          <p:cNvSpPr/>
          <p:nvPr/>
        </p:nvSpPr>
        <p:spPr>
          <a:xfrm>
            <a:off x="6069925" y="3823216"/>
            <a:ext cx="3292793" cy="158019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DAD8E9"/>
                </a:solidFill>
                <a:latin typeface="Times New Roman" pitchFamily="18" charset="0"/>
                <a:ea typeface="Mukta Light" panose="020B0000000000000000" pitchFamily="34" charset="-122"/>
                <a:cs typeface="Times New Roman" pitchFamily="18" charset="0"/>
              </a:rPr>
              <a:t>Асинхронный фреймворк для взаимодействия с API Telegram, обеспечивающий мгновенный отклик бота.</a:t>
            </a:r>
            <a:endParaRPr lang="en-US" sz="19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" name="Shape 8"/>
          <p:cNvSpPr/>
          <p:nvPr/>
        </p:nvSpPr>
        <p:spPr>
          <a:xfrm>
            <a:off x="9671328" y="3247430"/>
            <a:ext cx="555427" cy="555427"/>
          </a:xfrm>
          <a:prstGeom prst="roundRect">
            <a:avLst>
              <a:gd name="adj" fmla="val 18669"/>
            </a:avLst>
          </a:prstGeom>
          <a:solidFill>
            <a:srgbClr val="542C49"/>
          </a:solidFill>
          <a:ln w="15240">
            <a:solidFill>
              <a:srgbClr val="6D4562"/>
            </a:solidFill>
            <a:prstDash val="solid"/>
          </a:ln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p:blipFill>
        <p:spPr>
          <a:xfrm>
            <a:off x="9784437" y="3360539"/>
            <a:ext cx="329089" cy="329089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0473571" y="3332202"/>
            <a:ext cx="2743200" cy="3429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DAD8E9"/>
                </a:solidFill>
                <a:latin typeface="Prompt Medium" panose="00000800000000000000" pitchFamily="34" charset="0"/>
                <a:ea typeface="Prompt Medium" panose="00000800000000000000" pitchFamily="34" charset="-122"/>
                <a:cs typeface="Prompt Medium" panose="00000800000000000000" pitchFamily="34" charset="-120"/>
              </a:rPr>
              <a:t>Deep Translator</a:t>
            </a:r>
            <a:endParaRPr lang="en-US" sz="2150" dirty="0"/>
          </a:p>
        </p:txBody>
      </p:sp>
      <p:sp>
        <p:nvSpPr>
          <p:cNvPr id="15" name="Text 10"/>
          <p:cNvSpPr/>
          <p:nvPr/>
        </p:nvSpPr>
        <p:spPr>
          <a:xfrm>
            <a:off x="10473571" y="3823216"/>
            <a:ext cx="3292793" cy="158019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DAD8E9"/>
                </a:solidFill>
                <a:latin typeface="Times New Roman" pitchFamily="18" charset="0"/>
                <a:ea typeface="Mukta Light" panose="020B0000000000000000" pitchFamily="34" charset="-122"/>
                <a:cs typeface="Times New Roman" pitchFamily="18" charset="0"/>
              </a:rPr>
              <a:t>Интеграция с передовыми сервисами перевода Google для максимальной точности и актуальности.</a:t>
            </a:r>
            <a:endParaRPr lang="en-US" sz="19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10853" y="6435328"/>
            <a:ext cx="308610" cy="246817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666280" y="6384608"/>
            <a:ext cx="11853267" cy="79009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endParaRPr lang="en-US" sz="1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96357" y="860941"/>
            <a:ext cx="7924086" cy="96821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3800"/>
              </a:lnSpc>
              <a:buNone/>
            </a:pPr>
            <a:r>
              <a:rPr lang="en-US" sz="3000" dirty="0">
                <a:solidFill>
                  <a:srgbClr val="C6BFEE"/>
                </a:solidFill>
                <a:latin typeface="Times New Roman" pitchFamily="18" charset="0"/>
                <a:ea typeface="Prompt Medium" panose="00000800000000000000" pitchFamily="34" charset="-122"/>
                <a:cs typeface="Times New Roman" pitchFamily="18" charset="0"/>
              </a:rPr>
              <a:t>Работа с данными: Ваша персональная база знаний</a:t>
            </a:r>
            <a:endParaRPr lang="en-US" sz="3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6096357" y="2090499"/>
            <a:ext cx="7924086" cy="27884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600" dirty="0">
                <a:solidFill>
                  <a:srgbClr val="DAD8E9"/>
                </a:solidFill>
                <a:latin typeface="Times New Roman" pitchFamily="18" charset="0"/>
                <a:ea typeface="Mukta Light" panose="020B0000000000000000" pitchFamily="34" charset="-122"/>
                <a:cs typeface="Times New Roman" pitchFamily="18" charset="0"/>
              </a:rPr>
              <a:t>StudyLex intelligently manages your vocabulary.</a:t>
            </a:r>
            <a:endParaRPr lang="en-US" sz="16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357" y="2565321"/>
            <a:ext cx="871299" cy="125253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141845" y="2739509"/>
            <a:ext cx="1936313" cy="24193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dirty="0">
                <a:solidFill>
                  <a:srgbClr val="DAD8E9"/>
                </a:solidFill>
                <a:latin typeface="Times New Roman" pitchFamily="18" charset="0"/>
                <a:ea typeface="Prompt Medium" panose="00000800000000000000" pitchFamily="34" charset="-122"/>
                <a:cs typeface="Times New Roman" pitchFamily="18" charset="0"/>
              </a:rPr>
              <a:t>Структура словаря</a:t>
            </a:r>
            <a:endParaRPr lang="en-US" sz="15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Text 3"/>
          <p:cNvSpPr/>
          <p:nvPr/>
        </p:nvSpPr>
        <p:spPr>
          <a:xfrm>
            <a:off x="7141845" y="3085981"/>
            <a:ext cx="6878598" cy="55768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00" dirty="0">
                <a:solidFill>
                  <a:srgbClr val="DAD8E9"/>
                </a:solidFill>
                <a:latin typeface="Times New Roman" pitchFamily="18" charset="0"/>
                <a:ea typeface="Mukta Light" panose="020B0000000000000000" pitchFamily="34" charset="-122"/>
                <a:cs typeface="Times New Roman" pitchFamily="18" charset="0"/>
              </a:rPr>
              <a:t>Используется эффективная структура данных "Dictionary" (ключ-значение), где ключ — это User_ID, а значение — список слов пользователя.</a:t>
            </a:r>
            <a:endParaRPr lang="en-US" sz="14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357" y="3817858"/>
            <a:ext cx="871299" cy="1252538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7141845" y="3992047"/>
            <a:ext cx="1936313" cy="24193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dirty="0">
                <a:solidFill>
                  <a:srgbClr val="DAD8E9"/>
                </a:solidFill>
                <a:latin typeface="Times New Roman" pitchFamily="18" charset="0"/>
                <a:ea typeface="Prompt Medium" panose="00000800000000000000" pitchFamily="34" charset="-122"/>
                <a:cs typeface="Times New Roman" pitchFamily="18" charset="0"/>
              </a:rPr>
              <a:t>Шаг 1: Ввод слова</a:t>
            </a:r>
            <a:endParaRPr lang="en-US" sz="15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Text 5"/>
          <p:cNvSpPr/>
          <p:nvPr/>
        </p:nvSpPr>
        <p:spPr>
          <a:xfrm>
            <a:off x="7141845" y="4338518"/>
            <a:ext cx="6878598" cy="55768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00" dirty="0">
                <a:solidFill>
                  <a:srgbClr val="DAD8E9"/>
                </a:solidFill>
                <a:latin typeface="Times New Roman" pitchFamily="18" charset="0"/>
                <a:ea typeface="Mukta Light" panose="020B0000000000000000" pitchFamily="34" charset="-122"/>
                <a:cs typeface="Times New Roman" pitchFamily="18" charset="0"/>
              </a:rPr>
              <a:t>Пользователь вводит слово или фразу для перевода на русском или английском языке.</a:t>
            </a:r>
            <a:endParaRPr lang="en-US" sz="14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357" y="5070396"/>
            <a:ext cx="871299" cy="1045607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7141845" y="5244584"/>
            <a:ext cx="2702243" cy="24193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dirty="0">
                <a:solidFill>
                  <a:srgbClr val="DAD8E9"/>
                </a:solidFill>
                <a:latin typeface="Times New Roman" pitchFamily="18" charset="0"/>
                <a:ea typeface="Prompt Medium" panose="00000800000000000000" pitchFamily="34" charset="-122"/>
                <a:cs typeface="Times New Roman" pitchFamily="18" charset="0"/>
              </a:rPr>
              <a:t>Шаг 2: Получение перевода</a:t>
            </a:r>
            <a:endParaRPr lang="en-US" sz="15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" name="Text 7"/>
          <p:cNvSpPr/>
          <p:nvPr/>
        </p:nvSpPr>
        <p:spPr>
          <a:xfrm>
            <a:off x="7141845" y="5591056"/>
            <a:ext cx="6878598" cy="27884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00" dirty="0">
                <a:solidFill>
                  <a:srgbClr val="DAD8E9"/>
                </a:solidFill>
                <a:latin typeface="Times New Roman" pitchFamily="18" charset="0"/>
                <a:ea typeface="Mukta Light" panose="020B0000000000000000" pitchFamily="34" charset="-122"/>
                <a:cs typeface="Times New Roman" pitchFamily="18" charset="0"/>
              </a:rPr>
              <a:t>Бот мгновенно обращается к сервису перевода и предоставляет результат.</a:t>
            </a:r>
            <a:endParaRPr lang="en-US" sz="14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6357" y="6116003"/>
            <a:ext cx="871299" cy="1252538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7141845" y="6290191"/>
            <a:ext cx="1936313" cy="24193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dirty="0" err="1" smtClean="0">
                <a:solidFill>
                  <a:srgbClr val="DAD8E9"/>
                </a:solidFill>
                <a:latin typeface="Times New Roman" pitchFamily="18" charset="0"/>
                <a:ea typeface="Prompt Medium" panose="00000800000000000000" pitchFamily="34" charset="-122"/>
                <a:cs typeface="Times New Roman" pitchFamily="18" charset="0"/>
              </a:rPr>
              <a:t>Шаг</a:t>
            </a:r>
            <a:r>
              <a:rPr lang="en-US" sz="1500" dirty="0" smtClean="0">
                <a:solidFill>
                  <a:srgbClr val="DAD8E9"/>
                </a:solidFill>
                <a:latin typeface="Times New Roman" pitchFamily="18" charset="0"/>
                <a:ea typeface="Prompt Medium" panose="00000800000000000000" pitchFamily="34" charset="-122"/>
                <a:cs typeface="Times New Roman" pitchFamily="18" charset="0"/>
              </a:rPr>
              <a:t> 3: </a:t>
            </a:r>
            <a:r>
              <a:rPr lang="en-US" sz="1500" dirty="0" err="1" smtClean="0">
                <a:solidFill>
                  <a:srgbClr val="DAD8E9"/>
                </a:solidFill>
                <a:latin typeface="Times New Roman" pitchFamily="18" charset="0"/>
                <a:ea typeface="Prompt Medium" panose="00000800000000000000" pitchFamily="34" charset="-122"/>
                <a:cs typeface="Times New Roman" pitchFamily="18" charset="0"/>
              </a:rPr>
              <a:t>Сохранение</a:t>
            </a:r>
            <a:endParaRPr lang="en-US" sz="15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6" name="Text 9"/>
          <p:cNvSpPr/>
          <p:nvPr/>
        </p:nvSpPr>
        <p:spPr>
          <a:xfrm>
            <a:off x="7141845" y="6636663"/>
            <a:ext cx="6878598" cy="55768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00" dirty="0">
                <a:solidFill>
                  <a:srgbClr val="DAD8E9"/>
                </a:solidFill>
                <a:latin typeface="Times New Roman" pitchFamily="18" charset="0"/>
                <a:ea typeface="Mukta Light" panose="020B0000000000000000" pitchFamily="34" charset="-122"/>
                <a:cs typeface="Times New Roman" pitchFamily="18" charset="0"/>
              </a:rPr>
              <a:t>При нажатии кнопки "Сохранить" пара "Слово — Перевод" записывается в личный словарь пользователя.</a:t>
            </a:r>
            <a:endParaRPr lang="en-US" sz="1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92785" y="993577"/>
            <a:ext cx="7766923" cy="48125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750"/>
              </a:lnSpc>
              <a:buNone/>
            </a:pPr>
            <a:r>
              <a:rPr lang="en-US" sz="3000" dirty="0">
                <a:solidFill>
                  <a:srgbClr val="C6BFEE"/>
                </a:solidFill>
                <a:latin typeface="Times New Roman" pitchFamily="18" charset="0"/>
                <a:ea typeface="Prompt Medium" panose="00000800000000000000" pitchFamily="34" charset="-122"/>
                <a:cs typeface="Times New Roman" pitchFamily="18" charset="0"/>
              </a:rPr>
              <a:t>Этапы разработки: Путь от идеи до MVP</a:t>
            </a:r>
            <a:endParaRPr lang="en-US" sz="3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hape 1"/>
          <p:cNvSpPr/>
          <p:nvPr/>
        </p:nvSpPr>
        <p:spPr>
          <a:xfrm>
            <a:off x="6092785" y="1734622"/>
            <a:ext cx="173236" cy="1245394"/>
          </a:xfrm>
          <a:prstGeom prst="roundRect">
            <a:avLst>
              <a:gd name="adj" fmla="val 42005"/>
            </a:avLst>
          </a:prstGeom>
          <a:solidFill>
            <a:srgbClr val="542C49"/>
          </a:solidFill>
          <a:ln w="7620">
            <a:solidFill>
              <a:srgbClr val="6D4562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439257" y="1907858"/>
            <a:ext cx="2318980" cy="24062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500" dirty="0">
                <a:solidFill>
                  <a:srgbClr val="DAD8E9"/>
                </a:solidFill>
                <a:latin typeface="Times New Roman" pitchFamily="18" charset="0"/>
                <a:ea typeface="Prompt Medium" panose="00000800000000000000" pitchFamily="34" charset="-122"/>
                <a:cs typeface="Times New Roman" pitchFamily="18" charset="0"/>
              </a:rPr>
              <a:t>Проектирование логики</a:t>
            </a:r>
            <a:endParaRPr lang="en-US" sz="15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6439257" y="2252424"/>
            <a:ext cx="7584758" cy="55435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00" dirty="0">
                <a:solidFill>
                  <a:srgbClr val="DAD8E9"/>
                </a:solidFill>
                <a:latin typeface="Times New Roman" pitchFamily="18" charset="0"/>
                <a:ea typeface="Mukta Light" panose="020B0000000000000000" pitchFamily="34" charset="-122"/>
                <a:cs typeface="Times New Roman" pitchFamily="18" charset="0"/>
              </a:rPr>
              <a:t>Разработка сценариев взаимодействия: "Ввод -&gt; Перевод -&gt; Сохранение -&gt; Тест", определяя пользовательский путь.</a:t>
            </a:r>
            <a:endParaRPr lang="en-US" sz="1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Shape 4"/>
          <p:cNvSpPr/>
          <p:nvPr/>
        </p:nvSpPr>
        <p:spPr>
          <a:xfrm>
            <a:off x="6352580" y="3153251"/>
            <a:ext cx="173236" cy="1245394"/>
          </a:xfrm>
          <a:prstGeom prst="roundRect">
            <a:avLst>
              <a:gd name="adj" fmla="val 42005"/>
            </a:avLst>
          </a:prstGeom>
          <a:solidFill>
            <a:srgbClr val="542C49"/>
          </a:solidFill>
          <a:ln w="7620">
            <a:solidFill>
              <a:srgbClr val="6D456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699052" y="3326487"/>
            <a:ext cx="1925003" cy="24062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500" dirty="0">
                <a:solidFill>
                  <a:srgbClr val="DAD8E9"/>
                </a:solidFill>
                <a:latin typeface="Times New Roman" pitchFamily="18" charset="0"/>
                <a:ea typeface="Prompt Medium" panose="00000800000000000000" pitchFamily="34" charset="-122"/>
                <a:cs typeface="Times New Roman" pitchFamily="18" charset="0"/>
              </a:rPr>
              <a:t>Написание кода</a:t>
            </a:r>
            <a:endParaRPr lang="en-US" sz="15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6699052" y="3671054"/>
            <a:ext cx="7324963" cy="55435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00" dirty="0">
                <a:solidFill>
                  <a:srgbClr val="DAD8E9"/>
                </a:solidFill>
                <a:latin typeface="Times New Roman" pitchFamily="18" charset="0"/>
                <a:ea typeface="Mukta Light" panose="020B0000000000000000" pitchFamily="34" charset="-122"/>
                <a:cs typeface="Times New Roman" pitchFamily="18" charset="0"/>
              </a:rPr>
              <a:t>Реализация обработчиков сообщений (Handlers) и логики перевода на Python с использованием Aiogram.</a:t>
            </a:r>
            <a:endParaRPr lang="en-US" sz="1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6612493" y="4571881"/>
            <a:ext cx="173236" cy="1245394"/>
          </a:xfrm>
          <a:prstGeom prst="roundRect">
            <a:avLst>
              <a:gd name="adj" fmla="val 42005"/>
            </a:avLst>
          </a:prstGeom>
          <a:solidFill>
            <a:srgbClr val="542C49"/>
          </a:solidFill>
          <a:ln w="7620">
            <a:solidFill>
              <a:srgbClr val="6D456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958965" y="4745117"/>
            <a:ext cx="2019657" cy="24062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500" dirty="0">
                <a:solidFill>
                  <a:srgbClr val="DAD8E9"/>
                </a:solidFill>
                <a:latin typeface="Times New Roman" pitchFamily="18" charset="0"/>
                <a:ea typeface="Prompt Medium" panose="00000800000000000000" pitchFamily="34" charset="-122"/>
                <a:cs typeface="Times New Roman" pitchFamily="18" charset="0"/>
              </a:rPr>
              <a:t>Отладка (Debugging)</a:t>
            </a:r>
            <a:endParaRPr lang="en-US" sz="15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6958965" y="5089684"/>
            <a:ext cx="7065050" cy="55435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00" dirty="0">
                <a:solidFill>
                  <a:srgbClr val="DAD8E9"/>
                </a:solidFill>
                <a:latin typeface="Times New Roman" pitchFamily="18" charset="0"/>
                <a:ea typeface="Mukta Light" panose="020B0000000000000000" pitchFamily="34" charset="-122"/>
                <a:cs typeface="Times New Roman" pitchFamily="18" charset="0"/>
              </a:rPr>
              <a:t>Исправление ошибок, настройка окружения (VS Code), обработка исключений (например, если слово не найдено).</a:t>
            </a:r>
            <a:endParaRPr lang="en-US" sz="1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6872407" y="5990511"/>
            <a:ext cx="173236" cy="1245394"/>
          </a:xfrm>
          <a:prstGeom prst="roundRect">
            <a:avLst>
              <a:gd name="adj" fmla="val 42005"/>
            </a:avLst>
          </a:prstGeom>
          <a:solidFill>
            <a:srgbClr val="542C49"/>
          </a:solidFill>
          <a:ln w="7620">
            <a:solidFill>
              <a:srgbClr val="6D456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218878" y="6163747"/>
            <a:ext cx="2190155" cy="24062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500" dirty="0">
                <a:solidFill>
                  <a:srgbClr val="DAD8E9"/>
                </a:solidFill>
                <a:latin typeface="Times New Roman" pitchFamily="18" charset="0"/>
                <a:ea typeface="Prompt Medium" panose="00000800000000000000" pitchFamily="34" charset="-122"/>
                <a:cs typeface="Times New Roman" pitchFamily="18" charset="0"/>
              </a:rPr>
              <a:t>Тестирование и запуск</a:t>
            </a:r>
            <a:endParaRPr lang="en-US" sz="15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7218878" y="6508313"/>
            <a:ext cx="6805136" cy="55435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DAD8E9"/>
                </a:solidFill>
                <a:latin typeface="Times New Roman" pitchFamily="18" charset="0"/>
                <a:ea typeface="Mukta Light" panose="020B0000000000000000" pitchFamily="34" charset="-122"/>
                <a:cs typeface="Times New Roman" pitchFamily="18" charset="0"/>
              </a:rPr>
              <a:t>Финальная проверка функционала на реальных устройствах и развертывание бота в Telegram.</a:t>
            </a:r>
            <a:endParaRPr lang="en-US" sz="135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10508" y="411242"/>
            <a:ext cx="5536287" cy="41552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250"/>
              </a:lnSpc>
              <a:buNone/>
            </a:pPr>
            <a:r>
              <a:rPr lang="en-US" sz="2600" dirty="0">
                <a:solidFill>
                  <a:srgbClr val="C6BFEE"/>
                </a:solidFill>
                <a:latin typeface="Times New Roman" pitchFamily="18" charset="0"/>
                <a:ea typeface="Prompt Medium" panose="00000800000000000000" pitchFamily="34" charset="-122"/>
                <a:cs typeface="Times New Roman" pitchFamily="18" charset="0"/>
              </a:rPr>
              <a:t>Заключение и планы на будущее</a:t>
            </a:r>
            <a:endParaRPr lang="en-US" sz="2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3110508" y="1200626"/>
            <a:ext cx="2659023" cy="3323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dirty="0">
                <a:solidFill>
                  <a:srgbClr val="C6BFEE"/>
                </a:solidFill>
                <a:latin typeface="Times New Roman" pitchFamily="18" charset="0"/>
                <a:ea typeface="Prompt Medium" panose="00000800000000000000" pitchFamily="34" charset="-122"/>
                <a:cs typeface="Times New Roman" pitchFamily="18" charset="0"/>
              </a:rPr>
              <a:t>Итоги</a:t>
            </a:r>
            <a:endParaRPr lang="en-US" sz="205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3110508" y="1682472"/>
            <a:ext cx="4022169" cy="71759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400" dirty="0">
                <a:solidFill>
                  <a:srgbClr val="DAD8E9"/>
                </a:solidFill>
                <a:latin typeface="Times New Roman" pitchFamily="18" charset="0"/>
                <a:ea typeface="Mukta Light" panose="020B0000000000000000" pitchFamily="34" charset="-122"/>
                <a:cs typeface="Times New Roman" pitchFamily="18" charset="0"/>
              </a:rPr>
              <a:t>Успешно создан полностью рабочий MVP (Minimum Viable Product) StudyLex, который доказал свою функциональность и удобство.</a:t>
            </a:r>
            <a:endParaRPr lang="en-US" sz="14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0508" y="2568297"/>
            <a:ext cx="4022169" cy="402216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505105" y="1200626"/>
            <a:ext cx="3306008" cy="3323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dirty="0">
                <a:solidFill>
                  <a:srgbClr val="C6BFEE"/>
                </a:solidFill>
                <a:latin typeface="Times New Roman" pitchFamily="18" charset="0"/>
                <a:ea typeface="Prompt Medium" panose="00000800000000000000" pitchFamily="34" charset="-122"/>
                <a:cs typeface="Times New Roman" pitchFamily="18" charset="0"/>
              </a:rPr>
              <a:t>Планы на будущее (v2.0)</a:t>
            </a:r>
            <a:endParaRPr lang="en-US" sz="205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7505105" y="1682472"/>
            <a:ext cx="4022169" cy="47839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850"/>
              </a:lnSpc>
              <a:buSzPct val="100000"/>
              <a:buChar char="•"/>
            </a:pPr>
            <a:r>
              <a:rPr lang="en-US" sz="1400" dirty="0">
                <a:solidFill>
                  <a:srgbClr val="DAD8E9"/>
                </a:solidFill>
                <a:latin typeface="Times New Roman" pitchFamily="18" charset="0"/>
                <a:ea typeface="Mukta Light" panose="020B0000000000000000" pitchFamily="34" charset="-122"/>
                <a:cs typeface="Times New Roman" pitchFamily="18" charset="0"/>
              </a:rPr>
              <a:t>Подключение базы данных SQLite для вечного хранения слов и истории пользователя.</a:t>
            </a:r>
            <a:endParaRPr lang="en-US" sz="1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7505105" y="2213134"/>
            <a:ext cx="4022169" cy="71759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850"/>
              </a:lnSpc>
              <a:buSzPct val="100000"/>
              <a:buChar char="•"/>
            </a:pPr>
            <a:r>
              <a:rPr lang="en-US" sz="1400" dirty="0">
                <a:solidFill>
                  <a:srgbClr val="DAD8E9"/>
                </a:solidFill>
                <a:latin typeface="Times New Roman" pitchFamily="18" charset="0"/>
                <a:ea typeface="Mukta Light" panose="020B0000000000000000" pitchFamily="34" charset="-122"/>
                <a:cs typeface="Times New Roman" pitchFamily="18" charset="0"/>
              </a:rPr>
              <a:t>Добавление режима "Викторина" с различными типами заданий для эффективной проверки знаний.</a:t>
            </a:r>
            <a:endParaRPr lang="en-US" sz="1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7505105" y="2982992"/>
            <a:ext cx="4022169" cy="47839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850"/>
              </a:lnSpc>
              <a:buSzPct val="100000"/>
              <a:buChar char="•"/>
            </a:pPr>
            <a:r>
              <a:rPr lang="en-US" sz="1400" dirty="0">
                <a:solidFill>
                  <a:srgbClr val="DAD8E9"/>
                </a:solidFill>
                <a:latin typeface="Times New Roman" pitchFamily="18" charset="0"/>
                <a:ea typeface="Mukta Light" panose="020B0000000000000000" pitchFamily="34" charset="-122"/>
                <a:cs typeface="Times New Roman" pitchFamily="18" charset="0"/>
              </a:rPr>
              <a:t>Интеграция функции "Слова дня" и других геймифицированных элементов.</a:t>
            </a:r>
            <a:endParaRPr lang="en-US" sz="14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05105" y="3629620"/>
            <a:ext cx="4022169" cy="402216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50437" y="1529358"/>
            <a:ext cx="7415927" cy="2057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5400"/>
              </a:lnSpc>
              <a:buNone/>
            </a:pPr>
            <a:r>
              <a:rPr lang="en-US" sz="4300" dirty="0">
                <a:solidFill>
                  <a:srgbClr val="C6BFEE"/>
                </a:solidFill>
                <a:latin typeface="Times New Roman" pitchFamily="18" charset="0"/>
                <a:ea typeface="Prompt Medium" panose="00000800000000000000" pitchFamily="34" charset="-122"/>
                <a:cs typeface="Times New Roman" pitchFamily="18" charset="0"/>
              </a:rPr>
              <a:t>StudyLex: Учим английский просто и технологично</a:t>
            </a:r>
            <a:endParaRPr lang="en-US" sz="43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6350437" y="3957042"/>
            <a:ext cx="7415927" cy="2743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800"/>
              </a:lnSpc>
              <a:buNone/>
            </a:pPr>
            <a:r>
              <a:rPr lang="en-US" sz="8600" dirty="0">
                <a:solidFill>
                  <a:srgbClr val="C6BFEE"/>
                </a:solidFill>
                <a:latin typeface="Times New Roman" pitchFamily="18" charset="0"/>
                <a:ea typeface="Prompt Medium" panose="00000800000000000000" pitchFamily="34" charset="-122"/>
                <a:cs typeface="Times New Roman" pitchFamily="18" charset="0"/>
              </a:rPr>
              <a:t>Ваш успех — наша цель!</a:t>
            </a:r>
            <a:endParaRPr lang="en-US" sz="86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600</Words>
  <Application>WPS Presentation</Application>
  <PresentationFormat>Произвольный</PresentationFormat>
  <Paragraphs>77</Paragraphs>
  <Slides>9</Slides>
  <Notes>9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5" baseType="lpstr">
      <vt:lpstr>Arial</vt:lpstr>
      <vt:lpstr>Times New Roman</vt:lpstr>
      <vt:lpstr>Prompt Medium</vt:lpstr>
      <vt:lpstr>Mukta Light</vt:lpstr>
      <vt:lpstr>Calibri</vt:lpstr>
      <vt:lpstr>Office Theme</vt:lpstr>
      <vt:lpstr>Слайд 1</vt:lpstr>
      <vt:lpstr>Слайд 2</vt:lpstr>
      <vt:lpstr>Слайд 3</vt:lpstr>
      <vt:lpstr>Слайд 4</vt:lpstr>
      <vt:lpstr>Слайд 5</vt:lpstr>
      <vt:lpstr>Слайд 6</vt:lpstr>
      <vt:lpstr>Слайд 7</vt:lpstr>
      <vt:lpstr>Слайд 8</vt:lpstr>
      <vt:lpstr>Слайд 9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Слайд 1</dc:title>
  <dc:creator/>
  <cp:lastModifiedBy>User</cp:lastModifiedBy>
  <cp:revision>6</cp:revision>
  <dcterms:created xsi:type="dcterms:W3CDTF">2026-01-06T17:58:00Z</dcterms:created>
  <dcterms:modified xsi:type="dcterms:W3CDTF">2026-06-08T08:21:42Z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D81FBD35E4494B47B85C1F4C44B467D2_12</vt:lpwstr>
  </property>
  <property fmtid="{D5CDD505-2E9C-101B-9397-08002B2CF9AE}" pid="3" name="KSOProductBuildVer">
    <vt:lpwstr>1049-12.2.0.23197</vt:lpwstr>
  </property>
</Properties>
</file>